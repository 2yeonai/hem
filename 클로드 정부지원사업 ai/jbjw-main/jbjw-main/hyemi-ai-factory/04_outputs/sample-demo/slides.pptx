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1. 과제명·한 줄 요약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신청자 사업장(1인 운영 온라인 판매점)의 주문정리와 라벨 작성, 배송 안내에 주당 약 문제를 줄이는 주문·배송 업무 반자동화 도구 구축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신청자 사업장(1인 운영 온라인 판매점)의 반복 업무를 주문·배송 업무 반자동화 도구(으)로 반자동화해 처리 시간을 [실측치] 대비 단계적으로 줄이는 과제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36초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2. 문제 (필요성)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신청자 사업장(1인 운영 온라인 판매점)의 반복 손실이 실재한다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주문정리와 라벨 작성, 배송 안내에 주당 약 10시간이 들고 수기 입력으로 오배송·재작업이 발생</a:t>
            </a:r>
          </a:p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근거: 주문서 엑셀 샘플, 작업 과정 사진</a:t>
            </a:r>
          </a:p>
          <a:p>
            <a:pPr marL="285750" indent="-285750">
              <a:buChar char="•"/>
            </a:pPr>
            <a:r>
              <a:rPr lang="ko-KR" sz="1400" dirty="0">
                <a:solidFill>
                  <a:srgbClr val="2980B9"/>
                </a:solidFill>
              </a:rPr>
              <a:t>증빙: 주문서 엑셀 샘플, 작업 과정 사진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72초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3. 기존 방식의 한계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쓰던 이유는 있었지만 한계가 남는다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[확인 필요: 기존 방식 vs 한계 1줄]</a:t>
            </a:r>
          </a:p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본 과제가 해결하는 지점: 주문·배송 업무 반자동화 도구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48초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4. 핵심 해결방안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주문·배송 업무 반자동화 도구 — 대표자 검수형 반자동 구조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산출물: 라벨 PDF 생성 도구, 배송 체크리스트, 운영 매뉴얼</a:t>
            </a:r>
          </a:p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AI 초안 생성 → 대표자 검수·협의 중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84초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5. 실행계획 (기간 내)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수행기간 협약 후 6개월 안에 끝나는 범위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준비(기준치 실측) → 구축 → 검증(전후 비교)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72초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6. 예산과 산출물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돈을 쓰면 남는 것이 명확하다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자동화 도구 개발·구축비 [확인 필요] / 라벨 프린터 장비 구매 80만원 / 교육·정착비 [확인 필요]</a:t>
            </a:r>
          </a:p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항목→목적→산출물→성과 연결표 제시</a:t>
            </a:r>
          </a:p>
          <a:p>
            <a:pPr marL="285750" indent="-285750">
              <a:buChar char="•"/>
            </a:pPr>
            <a:r>
              <a:rPr lang="ko-KR" sz="1400" dirty="0">
                <a:solidFill>
                  <a:srgbClr val="2980B9"/>
                </a:solidFill>
              </a:rPr>
              <a:t>증빙: 견적서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72초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7. 성과목표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측정 방법이 있는 목표만 말한다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[확인 필요: 기준치(실측) → 목표치 · 측정 방법]</a:t>
            </a:r>
          </a:p>
          <a:p>
            <a:pPr marL="285750" indent="-285750">
              <a:buChar char="•"/>
            </a:pPr>
            <a:r>
              <a:rPr lang="ko-KR" sz="1400" dirty="0">
                <a:solidFill>
                  <a:srgbClr val="2980B9"/>
                </a:solidFill>
              </a:rPr>
              <a:t>증빙: 실측 기록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60초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8. 고객·확산 계획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최고 배점 '실행계획·실현 가능성' 대응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[확인 필요: 이게 되면 사업이 어떻게 커지는가 — 신상품·재구매·매출 구조 변화] 현재 단계와 장기 확장을 분리해 쓴다. 이번 수행범위에서는 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48초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9. 신청자 역량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내가 직접 실행하고 검수한다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[샘플] 지역 소상공인 혜미은(는) 수제 제품 온라인 판매 분야에서 3년간 운영해 왔으며 스마트스토어, 인스타그램 채널을 직접 운영한다. 본 과</a:t>
            </a:r>
          </a:p>
          <a:p>
            <a:pPr marL="285750" indent="-285750">
              <a:buChar char="•"/>
            </a:pPr>
            <a:r>
              <a:rPr lang="ko-KR" sz="1400" dirty="0">
                <a:solidFill>
                  <a:srgbClr val="2980B9"/>
                </a:solidFill>
              </a:rPr>
              <a:t>증빙: 사업자등록증 등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48초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10. 리스크 관리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위험을 알고 있고 보완계획이 있다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인식한 리스크: 단순 구매로 보일 위험, 외주 의존으로 보일 위험</a:t>
            </a:r>
          </a:p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발생 시 범위 축소·대체 수단으로 보완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30초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11277600" cy="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800" b="1" dirty="0">
                <a:solidFill>
                  <a:srgbClr val="1A1A2E"/>
                </a:solidFill>
              </a:rPr>
              <a:t>11. 마무리</a:t>
            </a:r>
          </a:p>
        </p:txBody>
      </p:sp>
      <p:sp>
        <p:nvSpPr>
          <p:cNvPr id="3" name="Key"/>
          <p:cNvSpPr txBox="1"/>
          <p:nvPr/>
        </p:nvSpPr>
        <p:spPr>
          <a:xfrm>
            <a:off x="457200" y="1200000"/>
            <a:ext cx="11277600" cy="7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2000" b="1" dirty="0">
                <a:solidFill>
                  <a:srgbClr val="C0392B"/>
                </a:solidFill>
              </a:rPr>
              <a:t>공고 목적과 맞는, 기간 내 검증 가능한 과제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457200" y="2000000"/>
            <a:ext cx="11277600" cy="38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285750" indent="-285750">
              <a:buChar char="•"/>
            </a:pPr>
            <a:r>
              <a:rPr lang="ko-KR" sz="1600" dirty="0">
                <a:solidFill>
                  <a:srgbClr val="1A1A2E"/>
                </a:solidFill>
              </a:rPr>
              <a:t>약속은 좁게, 검증은 확실하게</a:t>
            </a:r>
          </a:p>
        </p:txBody>
      </p:sp>
      <p:sp>
        <p:nvSpPr>
          <p:cNvPr id="5" name="Meta"/>
          <p:cNvSpPr txBox="1"/>
          <p:nvPr/>
        </p:nvSpPr>
        <p:spPr>
          <a:xfrm>
            <a:off x="457200" y="6308000"/>
            <a:ext cx="11277600" cy="400000"/>
          </a:xfrm>
          <a:prstGeom prst="rect">
            <a:avLst/>
          </a:prstGeom>
        </p:spPr>
        <p:txBody>
          <a:bodyPr wrap="square" rtlCol="0">
            <a:normAutofit fontScale="90000"/>
          </a:bodyPr>
          <a:lstStyle/>
          <a:p>
            <a:pPr marL="0" indent="0">
              <a:buNone/>
            </a:pPr>
            <a:r>
              <a:rPr lang="ko-KR" sz="1100" dirty="0">
                <a:solidFill>
                  <a:srgbClr val="7F8C8D"/>
                </a:solidFill>
              </a:rPr>
              <a:t>sample-demo — DRAFT · 권장 30초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emi">
  <a:themeElements>
    <a:clrScheme name="Hyemi">
      <a:dk1>
        <a:srgbClr val="1A1A2E"/>
      </a:dk1>
      <a:lt1>
        <a:srgbClr val="FFFFFF"/>
      </a:lt1>
      <a:dk2>
        <a:srgbClr val="16213E"/>
      </a:dk2>
      <a:lt2>
        <a:srgbClr val="F5F5F2"/>
      </a:lt2>
      <a:accent1>
        <a:srgbClr val="FFD166"/>
      </a:accent1>
      <a:accent2>
        <a:srgbClr val="27AE60"/>
      </a:accent2>
      <a:accent3>
        <a:srgbClr val="C0392B"/>
      </a:accent3>
      <a:accent4>
        <a:srgbClr val="2980B9"/>
      </a:accent4>
      <a:accent5>
        <a:srgbClr val="8E44AD"/>
      </a:accent5>
      <a:accent6>
        <a:srgbClr val="E67E22"/>
      </a:accent6>
      <a:hlink>
        <a:srgbClr val="2980B9"/>
      </a:hlink>
      <a:folHlink>
        <a:srgbClr val="8E44AD"/>
      </a:folHlink>
    </a:clrScheme>
    <a:fontScheme name="Hyemi">
      <a:majorFont>
        <a:latin typeface="Arial"/>
        <a:ea typeface="Malgun Gothic"/>
        <a:cs typeface=""/>
      </a:majorFont>
      <a:minorFont>
        <a:latin typeface="Arial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